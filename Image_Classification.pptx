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117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ImprovedCNN</c:v>
                </c:pt>
                <c:pt idx="1">
                  <c:v>ResNet18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0B-407B-8B8E-6F0EAD9CFD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F1-Score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117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ImprovedCNN</c:v>
                </c:pt>
                <c:pt idx="1">
                  <c:v>ResNet18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81</c:v>
                </c:pt>
                <c:pt idx="1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0B-407B-8B8E-6F0EAD9CFD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8E"/>
                </a:solidFill>
                <a:latin typeface="Arial"/>
              </a:defRPr>
            </a:pPr>
            <a:endParaRPr lang="LID4096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8E"/>
                </a:solidFill>
                <a:latin typeface="Arial"/>
              </a:defRPr>
            </a:pPr>
            <a:endParaRPr lang="LID4096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LID4096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97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0E7C7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2560320"/>
            <a:ext cx="1645920" cy="1645920"/>
          </a:xfrm>
          <a:prstGeom prst="ellipse">
            <a:avLst/>
          </a:prstGeom>
          <a:solidFill>
            <a:srgbClr val="13A8A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 Image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i="1" dirty="0">
                <a:solidFill>
                  <a:srgbClr val="13A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Deep Learning · CNN vs ResNet18 · Déploiement Streamlit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3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Lightning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34290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3429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3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4290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429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3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~14 000 images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34290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3429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3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Dataset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Deep Learning — Notebook Final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oundRect">
            <a:avLst>
              <a:gd name="adj" fmla="val 25000"/>
            </a:avLst>
          </a:prstGeom>
          <a:solidFill>
            <a:srgbClr val="0E7C7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du Projet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84248" y="1901952"/>
            <a:ext cx="64008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325880"/>
            <a:ext cx="1572768" cy="329184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17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1115568" cy="27432"/>
          </a:xfrm>
          <a:prstGeom prst="rect">
            <a:avLst/>
          </a:prstGeom>
          <a:solidFill>
            <a:srgbClr val="0E7C7B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95728"/>
            <a:ext cx="13898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 images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02736" y="1901952"/>
            <a:ext cx="64008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Shape 10"/>
          <p:cNvSpPr/>
          <p:nvPr/>
        </p:nvSpPr>
        <p:spPr>
          <a:xfrm>
            <a:off x="2029968" y="1325880"/>
            <a:ext cx="1572768" cy="329184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29968" y="1417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29968" y="18745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58568" y="2304288"/>
            <a:ext cx="1115568" cy="27432"/>
          </a:xfrm>
          <a:prstGeom prst="rect">
            <a:avLst/>
          </a:prstGeom>
          <a:solidFill>
            <a:srgbClr val="0E7C7B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121408" y="2395728"/>
            <a:ext cx="13898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150×150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ImageNet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 train/test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21224" y="1901952"/>
            <a:ext cx="64008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Shape 16"/>
          <p:cNvSpPr/>
          <p:nvPr/>
        </p:nvSpPr>
        <p:spPr>
          <a:xfrm>
            <a:off x="3648456" y="1325880"/>
            <a:ext cx="1572768" cy="329184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48456" y="1417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48456" y="18745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77056" y="2304288"/>
            <a:ext cx="1115568" cy="27432"/>
          </a:xfrm>
          <a:prstGeom prst="rect">
            <a:avLst/>
          </a:prstGeom>
          <a:solidFill>
            <a:srgbClr val="0E7C7B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739896" y="2395728"/>
            <a:ext cx="13898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Rotation 15°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Perspective, ColorJitter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RandomResizedCrop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39712" y="1901952"/>
            <a:ext cx="64008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Shape 22"/>
          <p:cNvSpPr/>
          <p:nvPr/>
        </p:nvSpPr>
        <p:spPr>
          <a:xfrm>
            <a:off x="5266944" y="1325880"/>
            <a:ext cx="1572768" cy="329184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66944" y="1417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66944" y="18745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95544" y="2304288"/>
            <a:ext cx="1115568" cy="27432"/>
          </a:xfrm>
          <a:prstGeom prst="rect">
            <a:avLst/>
          </a:prstGeom>
          <a:solidFill>
            <a:srgbClr val="0E7C7B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358384" y="2395728"/>
            <a:ext cx="13898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SimpleCNN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Fine-Tuning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85432" y="1325880"/>
            <a:ext cx="1572768" cy="329184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85432" y="1417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85432" y="18745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14032" y="2304288"/>
            <a:ext cx="1115568" cy="27432"/>
          </a:xfrm>
          <a:prstGeom prst="rect">
            <a:avLst/>
          </a:prstGeom>
          <a:solidFill>
            <a:srgbClr val="0E7C7B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976872" y="2395728"/>
            <a:ext cx="13898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en ligne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Local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oundRect">
            <a:avLst>
              <a:gd name="adj" fmla="val 25000"/>
            </a:avLst>
          </a:prstGeom>
          <a:solidFill>
            <a:srgbClr val="0E7C7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Prétraitement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840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64008" cy="3474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Image Classification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~14 000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19293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d'entraînement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6243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2679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de 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3741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équilibrées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4123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150×150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4178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(pixels)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298448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298448"/>
            <a:ext cx="64008" cy="34747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classes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FF4F7"/>
          </a:solidFill>
          <a:ln w="6350">
            <a:solidFill>
              <a:srgbClr val="D0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9933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Buildings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9202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FF4F7"/>
          </a:solidFill>
          <a:ln w="6350">
            <a:solidFill>
              <a:srgbClr val="D0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19933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Forest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7889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FF4F7"/>
          </a:solidFill>
          <a:ln w="6350">
            <a:solidFill>
              <a:srgbClr val="D0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86207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  Glacier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0" y="27889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FF4F7"/>
          </a:solidFill>
          <a:ln w="6350">
            <a:solidFill>
              <a:srgbClr val="D0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286207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⛰️  Mountain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6576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FF4F7"/>
          </a:solidFill>
          <a:ln w="6350">
            <a:solidFill>
              <a:srgbClr val="D0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73075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Sea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36576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EFF4F7"/>
          </a:solidFill>
          <a:ln w="6350">
            <a:solidFill>
              <a:srgbClr val="D0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373075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 Street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oundRect">
            <a:avLst>
              <a:gd name="adj" fmla="val 25000"/>
            </a:avLst>
          </a:prstGeom>
          <a:solidFill>
            <a:srgbClr val="0E7C7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d'Augmentation de Données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658368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5331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réduire l'overfitting et améliorer la généralisation du modèle sur des images jamais vues.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121408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121408"/>
            <a:ext cx="64008" cy="11155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1284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RandomResizedCrop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328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variable (80–100%)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recadrage 150×150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2121408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121408"/>
            <a:ext cx="64008" cy="111556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21284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RandomHorizontalFlip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5328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Symétrie horizontale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probabilité 50%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121408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121408"/>
            <a:ext cx="64008" cy="11155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21284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RandomRotation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5328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aléatoire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−15° et +15°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401568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401568"/>
            <a:ext cx="64008" cy="111556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930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RandomPerspective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8130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Déformation perspective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 20%, p=0.3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401568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401568"/>
            <a:ext cx="64008" cy="11155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4930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ColorJitter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8130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Luminosité ±30%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±30%, Saturation ±20%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3401568"/>
            <a:ext cx="2697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3401568"/>
            <a:ext cx="64008" cy="111556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4930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ImageNet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8130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mean=[0.485, 0.456, 0.406]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std=[0.229, 0.224, 0.225]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oundRect">
            <a:avLst>
              <a:gd name="adj" fmla="val 25000"/>
            </a:avLst>
          </a:prstGeom>
          <a:solidFill>
            <a:srgbClr val="0E7C7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Architectures Comparées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0690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406908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984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SimpleCNN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from scratch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01368"/>
            <a:ext cx="3822192" cy="347472"/>
          </a:xfrm>
          <a:prstGeom prst="rect">
            <a:avLst/>
          </a:prstGeom>
          <a:solidFill>
            <a:srgbClr val="EEF4FA"/>
          </a:solidFill>
          <a:ln w="3810">
            <a:solidFill>
              <a:srgbClr val="D8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01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Entrée  →  3 × 150 × 150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203704"/>
            <a:ext cx="382219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8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03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 3→32  + BN + ReLU + MaxPool  →  75×75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" y="2606040"/>
            <a:ext cx="382219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8E5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606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 32→64  + BN + ReLU + MaxPool  →  37×37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3008376"/>
            <a:ext cx="382219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8E5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0083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 64→128  + BN + ReLU + MaxPool  →  18×18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" y="3410712"/>
            <a:ext cx="382219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8E5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410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 128→256  + BN + ReLU + MaxPool  →  9×9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" y="3813048"/>
            <a:ext cx="382219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8E5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813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AdaptiveAvgPool → Flatten → Linear(256→128)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" y="4215384"/>
            <a:ext cx="3822192" cy="347472"/>
          </a:xfrm>
          <a:prstGeom prst="rect">
            <a:avLst/>
          </a:prstGeom>
          <a:solidFill>
            <a:srgbClr val="E8F5E9"/>
          </a:solidFill>
          <a:ln w="3810">
            <a:solidFill>
              <a:srgbClr val="D8E5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215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 + Dropout(0.5) + Linear(128→6)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" y="459028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~680 000 paramètres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298448"/>
            <a:ext cx="40690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298448"/>
            <a:ext cx="4069080" cy="411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2984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 —  Fine-Tuning complet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801368"/>
            <a:ext cx="73152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18288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204825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pré-entraîné ImageNet · poids dégelés, LR = 1×10⁻⁴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505456"/>
            <a:ext cx="73152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25328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28032" y="27523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→ Linear(512→256) → ReLU → Dropout(0.4) → Linear(256→6)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209544"/>
            <a:ext cx="73152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3" name="Text 31"/>
          <p:cNvSpPr/>
          <p:nvPr/>
        </p:nvSpPr>
        <p:spPr>
          <a:xfrm>
            <a:off x="4828032" y="32369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34564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différentiel : Backbone 1e-4  /  Tête 1e-3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913632"/>
            <a:ext cx="73152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394106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28032" y="41605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ImageNet adaptées aux paysages naturels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73168" y="464515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~11 000 000 paramètres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oundRect">
            <a:avLst>
              <a:gd name="adj" fmla="val 25000"/>
            </a:avLst>
          </a:prstGeom>
          <a:solidFill>
            <a:srgbClr val="0E7C7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&amp; 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Entraînement &amp; Évaluation des Modèles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9319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64008" cy="15087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89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d'entraînement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max_epochs = 25  ·  Early Stopping (patience=5)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933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Optimiseur : AdamW  ·  Weight decay = 1e-4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Scheduler : CosineAnnealingLR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054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Batch size = 64  ·  Split train/val = 80/20</a:t>
            </a:r>
            <a:endParaRPr lang="en-US" sz="10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572000" y="1261872"/>
          <a:ext cx="4206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411480" y="345643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" y="3456432"/>
            <a:ext cx="64008" cy="7132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SimpleCNN</a:t>
            </a: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(~82%)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378561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résultat pour un réseau from scratch. Overfitting contrôlé grâce au Dropout et à l'augmentation.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4261104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4261104"/>
            <a:ext cx="64008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4315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 (~89%)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" y="459028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résultat. Le fine-tuning complet exploite les features ImageNet adaptées aux paysages.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oundRect">
            <a:avLst>
              <a:gd name="adj" fmla="val 25000"/>
            </a:avLst>
          </a:prstGeom>
          <a:solidFill>
            <a:srgbClr val="0E7C7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 des Résultats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53312"/>
            <a:ext cx="64008" cy="1691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8288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les erreurs par classe.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/ Mountain / Sea sont les plus confondues — cohérent avec leurs similarités visuelles.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353312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53312"/>
            <a:ext cx="64008" cy="16916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Classification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18288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Précision, Rappel et F1-Score par classe.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d'identifier les classes sous-performantes et d'équilibrer le dataset si nécessaire.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200400"/>
            <a:ext cx="64008" cy="1691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ROC Multi-classes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367588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One-vs-Rest pour chaque classe.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&gt; 0.97 sur la majorité des classes — excellent pouvoir discriminant.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00400"/>
            <a:ext cx="64008" cy="16916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d'Activation (Feature Maps)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367588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des filtres de la première couche conv.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les motifs appris : contours, textures, gradients de couleur.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0" y="0"/>
            <a:ext cx="54864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011680" cy="256032"/>
          </a:xfrm>
          <a:prstGeom prst="roundRect">
            <a:avLst>
              <a:gd name="adj" fmla="val 25000"/>
            </a:avLst>
          </a:prstGeom>
          <a:solidFill>
            <a:srgbClr val="0E7C7B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Conclusion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13969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prétraitement au déploiement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968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6151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comparaison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81635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from scratch vs Transfer Learning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2735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32918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optimal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349300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différentiel backbone/tête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9502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396849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rigoureuses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1696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Confusion, ROC, F1 par classe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548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Streamlit App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1115568"/>
            <a:ext cx="3154680" cy="502920"/>
          </a:xfrm>
          <a:prstGeom prst="rect">
            <a:avLst/>
          </a:prstGeom>
          <a:solidFill>
            <a:srgbClr val="132535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11795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33872" y="136245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SimpleCNN</a:t>
            </a:r>
            <a:r>
              <a:rPr lang="en-US" sz="95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ResNet18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15000" y="1709928"/>
            <a:ext cx="3154680" cy="502920"/>
          </a:xfrm>
          <a:prstGeom prst="rect">
            <a:avLst/>
          </a:prstGeom>
          <a:solidFill>
            <a:srgbClr val="132535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17739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33872" y="19568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JPG / PNG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15000" y="2304288"/>
            <a:ext cx="3154680" cy="502920"/>
          </a:xfrm>
          <a:prstGeom prst="rect">
            <a:avLst/>
          </a:prstGeom>
          <a:solidFill>
            <a:srgbClr val="132535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33872" y="255117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+ confiance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15000" y="2898648"/>
            <a:ext cx="3154680" cy="502920"/>
          </a:xfrm>
          <a:prstGeom prst="rect">
            <a:avLst/>
          </a:prstGeom>
          <a:solidFill>
            <a:srgbClr val="132535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29626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33872" y="314553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6 classes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15000" y="3493008"/>
            <a:ext cx="3154680" cy="502920"/>
          </a:xfrm>
          <a:prstGeom prst="rect">
            <a:avLst/>
          </a:prstGeom>
          <a:solidFill>
            <a:srgbClr val="132535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35570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33872" y="373989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 Streamlit Cloud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4087368"/>
            <a:ext cx="3154680" cy="502920"/>
          </a:xfrm>
          <a:prstGeom prst="rect">
            <a:avLst/>
          </a:prstGeom>
          <a:solidFill>
            <a:srgbClr val="132535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33872" y="41513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33872" y="433425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Streamlit · Plotly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Image Classification  ·  Deep Learning  ·  PyTorch Lightning  ·  Streamlit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639</Words>
  <Application>Microsoft Office PowerPoint</Application>
  <PresentationFormat>Affichage à l'écran (16:9)</PresentationFormat>
  <Paragraphs>157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Image Classification</dc:title>
  <dc:subject>PptxGenJS Presentation</dc:subject>
  <dc:creator>PptxGenJS</dc:creator>
  <cp:lastModifiedBy>MSI</cp:lastModifiedBy>
  <cp:revision>4</cp:revision>
  <dcterms:created xsi:type="dcterms:W3CDTF">2026-05-21T21:22:54Z</dcterms:created>
  <dcterms:modified xsi:type="dcterms:W3CDTF">2026-05-22T00:07:14Z</dcterms:modified>
</cp:coreProperties>
</file>